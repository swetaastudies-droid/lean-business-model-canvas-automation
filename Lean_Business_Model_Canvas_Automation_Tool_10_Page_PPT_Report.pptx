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08760"/>
            <a:ext cx="10789920" cy="1828800"/>
          </a:xfrm>
          <a:prstGeom prst="rect">
            <a:avLst/>
          </a:prstGeom>
          <a:noFill/>
        </p:spPr>
        <p:txBody>
          <a:bodyPr wrap="none">
            <a:spAutoFit/>
          </a:bodyPr>
          <a:lstStyle/>
          <a:p>
            <a:r>
              <a:rPr sz="3400" b="1">
                <a:solidFill>
                  <a:srgbClr val="182D4E"/>
                </a:solidFill>
              </a:rPr>
              <a:t>LEAN BUSINESS MODEL CANVAS
AUTOMATION TOOL</a:t>
            </a:r>
          </a:p>
          <a:p>
            <a:pPr>
              <a:spcBef>
                <a:spcPts val="1200"/>
              </a:spcBef>
            </a:pPr>
            <a:r>
              <a:rPr sz="1900">
                <a:solidFill>
                  <a:srgbClr val="2D6EB4"/>
                </a:solidFill>
              </a:rPr>
              <a:t>AI-Assisted Entrepreneurship &amp; Business Analytics Prototype</a:t>
            </a:r>
          </a:p>
        </p:txBody>
      </p:sp>
      <p:sp>
        <p:nvSpPr>
          <p:cNvPr id="5" name="Rounded Rectangle 4"/>
          <p:cNvSpPr/>
          <p:nvPr/>
        </p:nvSpPr>
        <p:spPr>
          <a:xfrm>
            <a:off x="777240" y="3977639"/>
            <a:ext cx="5212080" cy="123444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Case Startup</a:t>
            </a:r>
          </a:p>
          <a:p>
            <a:r>
              <a:rPr sz="1300">
                <a:solidFill>
                  <a:srgbClr val="2D323A"/>
                </a:solidFill>
              </a:rPr>
              <a:t>CampusBite — affordable and flexible meal subscriptions for college students.</a:t>
            </a:r>
          </a:p>
        </p:txBody>
      </p:sp>
      <p:sp>
        <p:nvSpPr>
          <p:cNvPr id="6" name="Rounded Rectangle 5"/>
          <p:cNvSpPr/>
          <p:nvPr/>
        </p:nvSpPr>
        <p:spPr>
          <a:xfrm>
            <a:off x="6217920" y="3977639"/>
            <a:ext cx="5212080" cy="123444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Project Status</a:t>
            </a:r>
          </a:p>
          <a:p>
            <a:r>
              <a:rPr sz="1300">
                <a:solidFill>
                  <a:srgbClr val="2D323A"/>
                </a:solidFill>
              </a:rPr>
              <a:t>Completed student MVP / entrepreneurship prototype.</a:t>
            </a:r>
          </a:p>
        </p:txBody>
      </p:sp>
      <p:sp>
        <p:nvSpPr>
          <p:cNvPr id="7" name="TextBox 6"/>
          <p:cNvSpPr txBox="1"/>
          <p:nvPr/>
        </p:nvSpPr>
        <p:spPr>
          <a:xfrm>
            <a:off x="777240" y="5806440"/>
            <a:ext cx="10515600" cy="411480"/>
          </a:xfrm>
          <a:prstGeom prst="rect">
            <a:avLst/>
          </a:prstGeom>
          <a:noFill/>
        </p:spPr>
        <p:txBody>
          <a:bodyPr wrap="none">
            <a:spAutoFit/>
          </a:bodyPr>
          <a:lstStyle/>
          <a:p>
            <a:pPr>
              <a:defRPr sz="1300">
                <a:solidFill>
                  <a:srgbClr val="69707A"/>
                </a:solidFill>
              </a:defRPr>
            </a:pPr>
            <a:r>
              <a:t>FoodTech / Student Services • Chennai, Tamil Nadu, India</a:t>
            </a:r>
          </a:p>
        </p:txBody>
      </p:sp>
      <p:sp>
        <p:nvSpPr>
          <p:cNvPr id="8" name="Rectangle 7"/>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10528"/>
            <a:ext cx="10698480" cy="228600"/>
          </a:xfrm>
          <a:prstGeom prst="rect">
            <a:avLst/>
          </a:prstGeom>
          <a:noFill/>
        </p:spPr>
        <p:txBody>
          <a:bodyPr wrap="none">
            <a:spAutoFit/>
          </a:bodyPr>
          <a:lstStyle/>
          <a:p>
            <a:pPr algn="r"/>
            <a:r>
              <a:rPr sz="800">
                <a:solidFill>
                  <a:srgbClr val="69707A"/>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1. Project Overview</a:t>
            </a:r>
          </a:p>
        </p:txBody>
      </p:sp>
      <p:sp>
        <p:nvSpPr>
          <p:cNvPr id="4" name="TextBox 3"/>
          <p:cNvSpPr txBox="1"/>
          <p:nvPr/>
        </p:nvSpPr>
        <p:spPr>
          <a:xfrm>
            <a:off x="612648" y="914400"/>
            <a:ext cx="10789920" cy="365760"/>
          </a:xfrm>
          <a:prstGeom prst="rect">
            <a:avLst/>
          </a:prstGeom>
          <a:noFill/>
        </p:spPr>
        <p:txBody>
          <a:bodyPr wrap="none">
            <a:spAutoFit/>
          </a:bodyPr>
          <a:lstStyle/>
          <a:p>
            <a:r>
              <a:rPr sz="1100">
                <a:solidFill>
                  <a:srgbClr val="69707A"/>
                </a:solidFill>
              </a:rPr>
              <a:t>From startup idea to evidence-aware business model</a:t>
            </a:r>
          </a:p>
        </p:txBody>
      </p:sp>
      <p:sp>
        <p:nvSpPr>
          <p:cNvPr id="5" name="Rounded Rectangle 4"/>
          <p:cNvSpPr/>
          <p:nvPr/>
        </p:nvSpPr>
        <p:spPr>
          <a:xfrm>
            <a:off x="640080" y="1371600"/>
            <a:ext cx="3474720" cy="18288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Business Need</a:t>
            </a:r>
          </a:p>
          <a:p>
            <a:r>
              <a:rPr sz="1300">
                <a:solidFill>
                  <a:srgbClr val="2D323A"/>
                </a:solidFill>
              </a:rPr>
              <a:t>Students and early-stage founders often create canvases without clearly separating assumptions from evidence.</a:t>
            </a:r>
          </a:p>
        </p:txBody>
      </p:sp>
      <p:sp>
        <p:nvSpPr>
          <p:cNvPr id="6" name="Rounded Rectangle 5"/>
          <p:cNvSpPr/>
          <p:nvPr/>
        </p:nvSpPr>
        <p:spPr>
          <a:xfrm>
            <a:off x="4343400" y="1371600"/>
            <a:ext cx="3474720" cy="18288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Project Objective</a:t>
            </a:r>
          </a:p>
          <a:p>
            <a:r>
              <a:rPr sz="1300">
                <a:solidFill>
                  <a:srgbClr val="2D323A"/>
                </a:solidFill>
              </a:rPr>
              <a:t>Build a structured tool that organizes startup inputs into a Lean Canvas, confidence assessment, risks and validation experiments.</a:t>
            </a:r>
          </a:p>
        </p:txBody>
      </p:sp>
      <p:sp>
        <p:nvSpPr>
          <p:cNvPr id="7" name="Rounded Rectangle 6"/>
          <p:cNvSpPr/>
          <p:nvPr/>
        </p:nvSpPr>
        <p:spPr>
          <a:xfrm>
            <a:off x="8046720" y="1371600"/>
            <a:ext cx="3474720" cy="18288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37875F"/>
                </a:solidFill>
              </a:rPr>
              <a:t>Core Principle</a:t>
            </a:r>
          </a:p>
          <a:p>
            <a:r>
              <a:rPr sz="1300">
                <a:solidFill>
                  <a:srgbClr val="2D323A"/>
                </a:solidFill>
              </a:rPr>
              <a:t>A business model remains a set of hypotheses until supported by relevant evidence.</a:t>
            </a:r>
          </a:p>
        </p:txBody>
      </p:sp>
      <p:sp>
        <p:nvSpPr>
          <p:cNvPr id="8" name="Rounded Rectangle 7"/>
          <p:cNvSpPr/>
          <p:nvPr/>
        </p:nvSpPr>
        <p:spPr>
          <a:xfrm>
            <a:off x="685800" y="3886200"/>
            <a:ext cx="1508760" cy="9144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Startup Idea</a:t>
            </a:r>
          </a:p>
          <a:p>
            <a:r>
              <a:rPr sz="1000">
                <a:solidFill>
                  <a:srgbClr val="2D323A"/>
                </a:solidFill>
              </a:rPr>
              <a:t/>
            </a:r>
          </a:p>
        </p:txBody>
      </p:sp>
      <p:sp>
        <p:nvSpPr>
          <p:cNvPr id="9" name="Rounded Rectangle 8"/>
          <p:cNvSpPr/>
          <p:nvPr/>
        </p:nvSpPr>
        <p:spPr>
          <a:xfrm>
            <a:off x="2304288" y="3886200"/>
            <a:ext cx="1508760" cy="91440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Research</a:t>
            </a:r>
          </a:p>
          <a:p>
            <a:r>
              <a:rPr sz="1000">
                <a:solidFill>
                  <a:srgbClr val="2D323A"/>
                </a:solidFill>
              </a:rPr>
              <a:t/>
            </a:r>
          </a:p>
        </p:txBody>
      </p:sp>
      <p:sp>
        <p:nvSpPr>
          <p:cNvPr id="10" name="Rounded Rectangle 9"/>
          <p:cNvSpPr/>
          <p:nvPr/>
        </p:nvSpPr>
        <p:spPr>
          <a:xfrm>
            <a:off x="3922776" y="3886200"/>
            <a:ext cx="1508760" cy="9144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Assumptions</a:t>
            </a:r>
          </a:p>
          <a:p>
            <a:r>
              <a:rPr sz="1000">
                <a:solidFill>
                  <a:srgbClr val="2D323A"/>
                </a:solidFill>
              </a:rPr>
              <a:t/>
            </a:r>
          </a:p>
        </p:txBody>
      </p:sp>
      <p:sp>
        <p:nvSpPr>
          <p:cNvPr id="11" name="Rounded Rectangle 10"/>
          <p:cNvSpPr/>
          <p:nvPr/>
        </p:nvSpPr>
        <p:spPr>
          <a:xfrm>
            <a:off x="5541264" y="3886200"/>
            <a:ext cx="1508760" cy="91440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Lean Canvas</a:t>
            </a:r>
          </a:p>
          <a:p>
            <a:r>
              <a:rPr sz="1000">
                <a:solidFill>
                  <a:srgbClr val="2D323A"/>
                </a:solidFill>
              </a:rPr>
              <a:t/>
            </a:r>
          </a:p>
        </p:txBody>
      </p:sp>
      <p:sp>
        <p:nvSpPr>
          <p:cNvPr id="12" name="Rounded Rectangle 11"/>
          <p:cNvSpPr/>
          <p:nvPr/>
        </p:nvSpPr>
        <p:spPr>
          <a:xfrm>
            <a:off x="7159752" y="3886200"/>
            <a:ext cx="1508760" cy="9144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Risk &amp; Confidence</a:t>
            </a:r>
          </a:p>
          <a:p>
            <a:r>
              <a:rPr sz="1000">
                <a:solidFill>
                  <a:srgbClr val="2D323A"/>
                </a:solidFill>
              </a:rPr>
              <a:t/>
            </a:r>
          </a:p>
        </p:txBody>
      </p:sp>
      <p:sp>
        <p:nvSpPr>
          <p:cNvPr id="13" name="Rounded Rectangle 12"/>
          <p:cNvSpPr/>
          <p:nvPr/>
        </p:nvSpPr>
        <p:spPr>
          <a:xfrm>
            <a:off x="8778240" y="3886200"/>
            <a:ext cx="1508760" cy="91440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Experiments</a:t>
            </a:r>
          </a:p>
          <a:p>
            <a:r>
              <a:rPr sz="1000">
                <a:solidFill>
                  <a:srgbClr val="2D323A"/>
                </a:solidFill>
              </a:rPr>
              <a:t/>
            </a:r>
          </a:p>
        </p:txBody>
      </p:sp>
      <p:sp>
        <p:nvSpPr>
          <p:cNvPr id="14" name="Rounded Rectangle 13"/>
          <p:cNvSpPr/>
          <p:nvPr/>
        </p:nvSpPr>
        <p:spPr>
          <a:xfrm>
            <a:off x="10396728" y="3886200"/>
            <a:ext cx="1508760" cy="9144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Updated Canvas</a:t>
            </a:r>
          </a:p>
          <a:p>
            <a:r>
              <a:rPr sz="1000">
                <a:solidFill>
                  <a:srgbClr val="2D323A"/>
                </a:solidFill>
              </a:rPr>
              <a:t/>
            </a:r>
          </a:p>
        </p:txBody>
      </p:sp>
      <p:sp>
        <p:nvSpPr>
          <p:cNvPr id="15" name="Rectangle 14"/>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510528"/>
            <a:ext cx="10698480" cy="228600"/>
          </a:xfrm>
          <a:prstGeom prst="rect">
            <a:avLst/>
          </a:prstGeom>
          <a:noFill/>
        </p:spPr>
        <p:txBody>
          <a:bodyPr wrap="none">
            <a:spAutoFit/>
          </a:bodyPr>
          <a:lstStyle/>
          <a:p>
            <a:pPr algn="r"/>
            <a:r>
              <a:rPr sz="800">
                <a:solidFill>
                  <a:srgbClr val="69707A"/>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2. Project Objectives &amp; Methodology</a:t>
            </a:r>
          </a:p>
        </p:txBody>
      </p:sp>
      <p:sp>
        <p:nvSpPr>
          <p:cNvPr id="4" name="TextBox 3"/>
          <p:cNvSpPr txBox="1"/>
          <p:nvPr/>
        </p:nvSpPr>
        <p:spPr>
          <a:xfrm>
            <a:off x="685800" y="1325880"/>
            <a:ext cx="6583680" cy="4754880"/>
          </a:xfrm>
          <a:prstGeom prst="rect">
            <a:avLst/>
          </a:prstGeom>
          <a:noFill/>
        </p:spPr>
        <p:txBody>
          <a:bodyPr wrap="square">
            <a:spAutoFit/>
          </a:bodyPr>
          <a:lstStyle/>
          <a:p>
            <a:pPr>
              <a:spcAft>
                <a:spcPts val="1000"/>
              </a:spcAft>
              <a:defRPr sz="1700">
                <a:solidFill>
                  <a:srgbClr val="2D323A"/>
                </a:solidFill>
              </a:defRPr>
            </a:pPr>
            <a:r>
              <a:t>• Automate a structured nine-block Lean Business Model Canvas.</a:t>
            </a:r>
          </a:p>
          <a:p>
            <a:pPr>
              <a:spcAft>
                <a:spcPts val="1000"/>
              </a:spcAft>
              <a:defRPr sz="1700">
                <a:solidFill>
                  <a:srgbClr val="2D323A"/>
                </a:solidFill>
              </a:defRPr>
            </a:pPr>
            <a:r>
              <a:t>• Separate assumptions from supporting evidence and assign evidence-aware confidence.</a:t>
            </a:r>
          </a:p>
          <a:p>
            <a:pPr>
              <a:spcAft>
                <a:spcPts val="1000"/>
              </a:spcAft>
              <a:defRPr sz="1700">
                <a:solidFill>
                  <a:srgbClr val="2D323A"/>
                </a:solidFill>
              </a:defRPr>
            </a:pPr>
            <a:r>
              <a:t>• Identify high-impact, low-evidence assumptions and recommend validation experiments.</a:t>
            </a:r>
          </a:p>
          <a:p>
            <a:pPr>
              <a:spcAft>
                <a:spcPts val="1000"/>
              </a:spcAft>
              <a:defRPr sz="1700">
                <a:solidFill>
                  <a:srgbClr val="2D323A"/>
                </a:solidFill>
              </a:defRPr>
            </a:pPr>
            <a:r>
              <a:t>• Provide AI-assisted recommendations without treating AI suggestions as factual evidence.</a:t>
            </a:r>
          </a:p>
          <a:p>
            <a:pPr>
              <a:spcAft>
                <a:spcPts val="1000"/>
              </a:spcAft>
              <a:defRPr sz="1700">
                <a:solidFill>
                  <a:srgbClr val="2D323A"/>
                </a:solidFill>
              </a:defRPr>
            </a:pPr>
            <a:r>
              <a:t>• Support industry templates, exports, dashboard views and collaboration-oriented review.</a:t>
            </a:r>
          </a:p>
          <a:p>
            <a:pPr>
              <a:spcAft>
                <a:spcPts val="1000"/>
              </a:spcAft>
              <a:defRPr sz="1700">
                <a:solidFill>
                  <a:srgbClr val="2D323A"/>
                </a:solidFill>
              </a:defRPr>
            </a:pPr>
            <a:r>
              <a:t>• Test the workflow across ten startup ideas.</a:t>
            </a:r>
          </a:p>
        </p:txBody>
      </p:sp>
      <p:sp>
        <p:nvSpPr>
          <p:cNvPr id="5" name="Rounded Rectangle 4"/>
          <p:cNvSpPr/>
          <p:nvPr/>
        </p:nvSpPr>
        <p:spPr>
          <a:xfrm>
            <a:off x="7635240" y="1417320"/>
            <a:ext cx="3840480" cy="43434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Methodology Flow</a:t>
            </a:r>
          </a:p>
          <a:p>
            <a:r>
              <a:rPr sz="1300">
                <a:solidFill>
                  <a:srgbClr val="2D323A"/>
                </a:solidFill>
              </a:rPr>
              <a:t>1. Collect startup inputs
2. Clarify idea and assumptions
3. Organize research evidence
4. Map to nine canvas blocks
5. Score confidence
6. Identify risks
7. Design experiments
8. Refine the canvas</a:t>
            </a:r>
          </a:p>
        </p:txBody>
      </p:sp>
      <p:sp>
        <p:nvSpPr>
          <p:cNvPr id="6" name="Rectangle 5"/>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10698480" cy="228600"/>
          </a:xfrm>
          <a:prstGeom prst="rect">
            <a:avLst/>
          </a:prstGeom>
          <a:noFill/>
        </p:spPr>
        <p:txBody>
          <a:bodyPr wrap="none">
            <a:spAutoFit/>
          </a:bodyPr>
          <a:lstStyle/>
          <a:p>
            <a:pPr algn="r"/>
            <a:r>
              <a:rPr sz="800">
                <a:solidFill>
                  <a:srgbClr val="69707A"/>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3. CampusBite — Startup Case Study</a:t>
            </a:r>
          </a:p>
        </p:txBody>
      </p:sp>
      <p:sp>
        <p:nvSpPr>
          <p:cNvPr id="4" name="Rounded Rectangle 3"/>
          <p:cNvSpPr/>
          <p:nvPr/>
        </p:nvSpPr>
        <p:spPr>
          <a:xfrm>
            <a:off x="640080" y="1280160"/>
            <a:ext cx="2560320" cy="10972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Industry</a:t>
            </a:r>
          </a:p>
          <a:p>
            <a:r>
              <a:rPr sz="1300">
                <a:solidFill>
                  <a:srgbClr val="2D323A"/>
                </a:solidFill>
              </a:rPr>
              <a:t>FoodTech / Student Services</a:t>
            </a:r>
          </a:p>
        </p:txBody>
      </p:sp>
      <p:sp>
        <p:nvSpPr>
          <p:cNvPr id="5" name="Rounded Rectangle 4"/>
          <p:cNvSpPr/>
          <p:nvPr/>
        </p:nvSpPr>
        <p:spPr>
          <a:xfrm>
            <a:off x="3383280" y="1280160"/>
            <a:ext cx="3657600" cy="10972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Target Customer</a:t>
            </a:r>
          </a:p>
          <a:p>
            <a:r>
              <a:rPr sz="1300">
                <a:solidFill>
                  <a:srgbClr val="2D323A"/>
                </a:solidFill>
              </a:rPr>
              <a:t>College students in hostels, PGs and rented accommodation.</a:t>
            </a:r>
          </a:p>
        </p:txBody>
      </p:sp>
      <p:sp>
        <p:nvSpPr>
          <p:cNvPr id="6" name="Rounded Rectangle 5"/>
          <p:cNvSpPr/>
          <p:nvPr/>
        </p:nvSpPr>
        <p:spPr>
          <a:xfrm>
            <a:off x="7223760" y="1280160"/>
            <a:ext cx="2011680" cy="10972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Geography</a:t>
            </a:r>
          </a:p>
          <a:p>
            <a:r>
              <a:rPr sz="1300">
                <a:solidFill>
                  <a:srgbClr val="2D323A"/>
                </a:solidFill>
              </a:rPr>
              <a:t>Chennai, Tamil Nadu, India</a:t>
            </a:r>
          </a:p>
        </p:txBody>
      </p:sp>
      <p:sp>
        <p:nvSpPr>
          <p:cNvPr id="7" name="Rounded Rectangle 6"/>
          <p:cNvSpPr/>
          <p:nvPr/>
        </p:nvSpPr>
        <p:spPr>
          <a:xfrm>
            <a:off x="9464040" y="1280160"/>
            <a:ext cx="2011680" cy="10972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Business Type</a:t>
            </a:r>
          </a:p>
          <a:p>
            <a:r>
              <a:rPr sz="1300">
                <a:solidFill>
                  <a:srgbClr val="2D323A"/>
                </a:solidFill>
              </a:rPr>
              <a:t>B2C subscription platform</a:t>
            </a:r>
          </a:p>
        </p:txBody>
      </p:sp>
      <p:sp>
        <p:nvSpPr>
          <p:cNvPr id="8" name="Rounded Rectangle 7"/>
          <p:cNvSpPr/>
          <p:nvPr/>
        </p:nvSpPr>
        <p:spPr>
          <a:xfrm>
            <a:off x="640080" y="2743200"/>
            <a:ext cx="5394960" cy="15544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Problem Hypothesis</a:t>
            </a:r>
          </a:p>
          <a:p>
            <a:r>
              <a:rPr sz="1400">
                <a:solidFill>
                  <a:srgbClr val="2D323A"/>
                </a:solidFill>
              </a:rPr>
              <a:t>Students living away from home may struggle to find affordable, reliable and convenient everyday meals.</a:t>
            </a:r>
          </a:p>
        </p:txBody>
      </p:sp>
      <p:sp>
        <p:nvSpPr>
          <p:cNvPr id="9" name="Rounded Rectangle 8"/>
          <p:cNvSpPr/>
          <p:nvPr/>
        </p:nvSpPr>
        <p:spPr>
          <a:xfrm>
            <a:off x="6217920" y="2743200"/>
            <a:ext cx="5303520" cy="15544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Proposed Solution</a:t>
            </a:r>
          </a:p>
          <a:p>
            <a:r>
              <a:rPr sz="1400">
                <a:solidFill>
                  <a:srgbClr val="2D323A"/>
                </a:solidFill>
              </a:rPr>
              <a:t>Connect students with verified local food providers offering flexible weekly and monthly meal subscriptions.</a:t>
            </a:r>
          </a:p>
        </p:txBody>
      </p:sp>
      <p:sp>
        <p:nvSpPr>
          <p:cNvPr id="10" name="Rounded Rectangle 9"/>
          <p:cNvSpPr/>
          <p:nvPr/>
        </p:nvSpPr>
        <p:spPr>
          <a:xfrm>
            <a:off x="640080" y="4709160"/>
            <a:ext cx="5394960" cy="114300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Proposed UVP</a:t>
            </a:r>
          </a:p>
          <a:p>
            <a:r>
              <a:rPr sz="1400">
                <a:solidFill>
                  <a:srgbClr val="2D323A"/>
                </a:solidFill>
              </a:rPr>
              <a:t>Affordable and flexible meal subscriptions designed specifically for college students.</a:t>
            </a:r>
          </a:p>
        </p:txBody>
      </p:sp>
      <p:sp>
        <p:nvSpPr>
          <p:cNvPr id="11" name="Rounded Rectangle 10"/>
          <p:cNvSpPr/>
          <p:nvPr/>
        </p:nvSpPr>
        <p:spPr>
          <a:xfrm>
            <a:off x="6217920" y="4709160"/>
            <a:ext cx="5303520" cy="114300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Unfair Advantage</a:t>
            </a:r>
          </a:p>
          <a:p>
            <a:r>
              <a:rPr sz="1400">
                <a:solidFill>
                  <a:srgbClr val="2D323A"/>
                </a:solidFill>
              </a:rPr>
              <a:t>Defensible advantage has not yet been established.</a:t>
            </a:r>
          </a:p>
        </p:txBody>
      </p:sp>
      <p:sp>
        <p:nvSpPr>
          <p:cNvPr id="12" name="Rectangle 11"/>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10528"/>
            <a:ext cx="10698480" cy="228600"/>
          </a:xfrm>
          <a:prstGeom prst="rect">
            <a:avLst/>
          </a:prstGeom>
          <a:noFill/>
        </p:spPr>
        <p:txBody>
          <a:bodyPr wrap="none">
            <a:spAutoFit/>
          </a:bodyPr>
          <a:lstStyle/>
          <a:p>
            <a:pPr algn="r"/>
            <a:r>
              <a:rPr sz="800">
                <a:solidFill>
                  <a:srgbClr val="69707A"/>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4. Lean Business Model Canvas — CampusBite</a:t>
            </a:r>
          </a:p>
        </p:txBody>
      </p:sp>
      <p:sp>
        <p:nvSpPr>
          <p:cNvPr id="4" name="Rounded Rectangle 3"/>
          <p:cNvSpPr/>
          <p:nvPr/>
        </p:nvSpPr>
        <p:spPr>
          <a:xfrm>
            <a:off x="640080" y="1325880"/>
            <a:ext cx="3063240" cy="13258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Problem</a:t>
            </a:r>
          </a:p>
          <a:p>
            <a:r>
              <a:rPr sz="1050">
                <a:solidFill>
                  <a:srgbClr val="2D323A"/>
                </a:solidFill>
              </a:rPr>
              <a:t>Affordable, reliable, convenient meals may be difficult to access.</a:t>
            </a:r>
          </a:p>
        </p:txBody>
      </p:sp>
      <p:sp>
        <p:nvSpPr>
          <p:cNvPr id="5" name="Rounded Rectangle 4"/>
          <p:cNvSpPr/>
          <p:nvPr/>
        </p:nvSpPr>
        <p:spPr>
          <a:xfrm>
            <a:off x="4069080" y="1325880"/>
            <a:ext cx="3063240" cy="13258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Customer Segments</a:t>
            </a:r>
          </a:p>
          <a:p>
            <a:r>
              <a:rPr sz="1050">
                <a:solidFill>
                  <a:srgbClr val="2D323A"/>
                </a:solidFill>
              </a:rPr>
              <a:t>College students in hostels, PGs and rented accommodation.</a:t>
            </a:r>
          </a:p>
        </p:txBody>
      </p:sp>
      <p:sp>
        <p:nvSpPr>
          <p:cNvPr id="6" name="Rounded Rectangle 5"/>
          <p:cNvSpPr/>
          <p:nvPr/>
        </p:nvSpPr>
        <p:spPr>
          <a:xfrm>
            <a:off x="7498079" y="1325880"/>
            <a:ext cx="3063240" cy="13258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UVP</a:t>
            </a:r>
          </a:p>
          <a:p>
            <a:r>
              <a:rPr sz="1050">
                <a:solidFill>
                  <a:srgbClr val="2D323A"/>
                </a:solidFill>
              </a:rPr>
              <a:t>Affordable and flexible student-focused meal subscriptions.</a:t>
            </a:r>
          </a:p>
        </p:txBody>
      </p:sp>
      <p:sp>
        <p:nvSpPr>
          <p:cNvPr id="7" name="Rounded Rectangle 6"/>
          <p:cNvSpPr/>
          <p:nvPr/>
        </p:nvSpPr>
        <p:spPr>
          <a:xfrm>
            <a:off x="640080" y="2971800"/>
            <a:ext cx="3063240" cy="13258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Solution</a:t>
            </a:r>
          </a:p>
          <a:p>
            <a:r>
              <a:rPr sz="1050">
                <a:solidFill>
                  <a:srgbClr val="2D323A"/>
                </a:solidFill>
              </a:rPr>
              <a:t>Platform connecting students with verified local food providers.</a:t>
            </a:r>
          </a:p>
        </p:txBody>
      </p:sp>
      <p:sp>
        <p:nvSpPr>
          <p:cNvPr id="8" name="Rounded Rectangle 7"/>
          <p:cNvSpPr/>
          <p:nvPr/>
        </p:nvSpPr>
        <p:spPr>
          <a:xfrm>
            <a:off x="4069080" y="2971800"/>
            <a:ext cx="3063240" cy="13258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Channels</a:t>
            </a:r>
          </a:p>
          <a:p>
            <a:r>
              <a:rPr sz="1050">
                <a:solidFill>
                  <a:srgbClr val="2D323A"/>
                </a:solidFill>
              </a:rPr>
              <a:t>Social media, college communities, ambassadors, referrals, search, partnerships, WhatsApp.</a:t>
            </a:r>
          </a:p>
        </p:txBody>
      </p:sp>
      <p:sp>
        <p:nvSpPr>
          <p:cNvPr id="9" name="Rounded Rectangle 8"/>
          <p:cNvSpPr/>
          <p:nvPr/>
        </p:nvSpPr>
        <p:spPr>
          <a:xfrm>
            <a:off x="7498079" y="2971800"/>
            <a:ext cx="3063240" cy="13258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Revenue</a:t>
            </a:r>
          </a:p>
          <a:p>
            <a:r>
              <a:rPr sz="1050">
                <a:solidFill>
                  <a:srgbClr val="2D323A"/>
                </a:solidFill>
              </a:rPr>
              <a:t>Subscriptions, provider commissions, delivery charges, premium plans.</a:t>
            </a:r>
          </a:p>
        </p:txBody>
      </p:sp>
      <p:sp>
        <p:nvSpPr>
          <p:cNvPr id="10" name="Rounded Rectangle 9"/>
          <p:cNvSpPr/>
          <p:nvPr/>
        </p:nvSpPr>
        <p:spPr>
          <a:xfrm>
            <a:off x="640080" y="4617720"/>
            <a:ext cx="3063240" cy="13258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Costs</a:t>
            </a:r>
          </a:p>
          <a:p>
            <a:r>
              <a:rPr sz="1050">
                <a:solidFill>
                  <a:srgbClr val="2D323A"/>
                </a:solidFill>
              </a:rPr>
              <a:t>Technology, provider payments, delivery, marketing, support, salaries, payment fees.</a:t>
            </a:r>
          </a:p>
        </p:txBody>
      </p:sp>
      <p:sp>
        <p:nvSpPr>
          <p:cNvPr id="11" name="Rounded Rectangle 10"/>
          <p:cNvSpPr/>
          <p:nvPr/>
        </p:nvSpPr>
        <p:spPr>
          <a:xfrm>
            <a:off x="4069080" y="4617720"/>
            <a:ext cx="3063240" cy="132588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Key Metrics</a:t>
            </a:r>
          </a:p>
          <a:p>
            <a:r>
              <a:rPr sz="1050">
                <a:solidFill>
                  <a:srgbClr val="2D323A"/>
                </a:solidFill>
              </a:rPr>
              <a:t>Customers, revenue, CAC, retention, churn, subscriptions, conversion.</a:t>
            </a:r>
          </a:p>
        </p:txBody>
      </p:sp>
      <p:sp>
        <p:nvSpPr>
          <p:cNvPr id="12" name="Rounded Rectangle 11"/>
          <p:cNvSpPr/>
          <p:nvPr/>
        </p:nvSpPr>
        <p:spPr>
          <a:xfrm>
            <a:off x="7498079" y="4617720"/>
            <a:ext cx="3063240" cy="132588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Unfair Advantage</a:t>
            </a:r>
          </a:p>
          <a:p>
            <a:r>
              <a:rPr sz="1050">
                <a:solidFill>
                  <a:srgbClr val="2D323A"/>
                </a:solidFill>
              </a:rPr>
              <a:t>Not yet established.</a:t>
            </a:r>
          </a:p>
        </p:txBody>
      </p:sp>
      <p:sp>
        <p:nvSpPr>
          <p:cNvPr id="13" name="Rectangle 12"/>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510528"/>
            <a:ext cx="10698480" cy="228600"/>
          </a:xfrm>
          <a:prstGeom prst="rect">
            <a:avLst/>
          </a:prstGeom>
          <a:noFill/>
        </p:spPr>
        <p:txBody>
          <a:bodyPr wrap="none">
            <a:spAutoFit/>
          </a:bodyPr>
          <a:lstStyle/>
          <a:p>
            <a:pPr algn="r"/>
            <a:r>
              <a:rPr sz="800">
                <a:solidFill>
                  <a:srgbClr val="69707A"/>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5. Evidence, Confidence &amp; Assumption Register</a:t>
            </a:r>
          </a:p>
        </p:txBody>
      </p:sp>
      <p:sp>
        <p:nvSpPr>
          <p:cNvPr id="4" name="Rounded Rectangle 3"/>
          <p:cNvSpPr/>
          <p:nvPr/>
        </p:nvSpPr>
        <p:spPr>
          <a:xfrm>
            <a:off x="640080" y="1280160"/>
            <a:ext cx="3657600" cy="205740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Confidence Scale</a:t>
            </a:r>
          </a:p>
          <a:p>
            <a:r>
              <a:rPr sz="1300">
                <a:solidFill>
                  <a:srgbClr val="2D323A"/>
                </a:solidFill>
              </a:rPr>
              <a:t>0–25: Mostly Assumption
26–50: Some Research
51–75: Moderate Evidence
76–100: Stronger Evidence</a:t>
            </a:r>
          </a:p>
        </p:txBody>
      </p:sp>
      <p:sp>
        <p:nvSpPr>
          <p:cNvPr id="5" name="Rounded Rectangle 4"/>
          <p:cNvSpPr/>
          <p:nvPr/>
        </p:nvSpPr>
        <p:spPr>
          <a:xfrm>
            <a:off x="640080" y="3611880"/>
            <a:ext cx="3657600" cy="173736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CampusBite V1</a:t>
            </a:r>
          </a:p>
          <a:p>
            <a:r>
              <a:rPr sz="1300">
                <a:solidFill>
                  <a:srgbClr val="2D323A"/>
                </a:solidFill>
              </a:rPr>
              <a:t>Most canvas blocks have low confidence because primary research has not been conducted. Unfair Advantage is explicitly unestablished.</a:t>
            </a:r>
          </a:p>
        </p:txBody>
      </p:sp>
      <p:sp>
        <p:nvSpPr>
          <p:cNvPr id="6" name="Rounded Rectangle 5"/>
          <p:cNvSpPr/>
          <p:nvPr/>
        </p:nvSpPr>
        <p:spPr>
          <a:xfrm>
            <a:off x="4572000" y="1234440"/>
            <a:ext cx="1325880" cy="502920"/>
          </a:xfrm>
          <a:prstGeom prst="roundRect">
            <a:avLst/>
          </a:prstGeom>
          <a:solidFill>
            <a:srgbClr val="182D4E"/>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FFFFFF"/>
                </a:solidFill>
              </a:rPr>
              <a:t>Category</a:t>
            </a:r>
          </a:p>
          <a:p>
            <a:r>
              <a:rPr sz="900">
                <a:solidFill>
                  <a:srgbClr val="2D323A"/>
                </a:solidFill>
              </a:rPr>
              <a:t/>
            </a:r>
          </a:p>
        </p:txBody>
      </p:sp>
      <p:sp>
        <p:nvSpPr>
          <p:cNvPr id="7" name="Rounded Rectangle 6"/>
          <p:cNvSpPr/>
          <p:nvPr/>
        </p:nvSpPr>
        <p:spPr>
          <a:xfrm>
            <a:off x="5897880" y="1234440"/>
            <a:ext cx="1051560" cy="502920"/>
          </a:xfrm>
          <a:prstGeom prst="roundRect">
            <a:avLst/>
          </a:prstGeom>
          <a:solidFill>
            <a:srgbClr val="182D4E"/>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FFFFFF"/>
                </a:solidFill>
              </a:rPr>
              <a:t>Importance</a:t>
            </a:r>
          </a:p>
          <a:p>
            <a:r>
              <a:rPr sz="900">
                <a:solidFill>
                  <a:srgbClr val="2D323A"/>
                </a:solidFill>
              </a:rPr>
              <a:t/>
            </a:r>
          </a:p>
        </p:txBody>
      </p:sp>
      <p:sp>
        <p:nvSpPr>
          <p:cNvPr id="8" name="Rounded Rectangle 7"/>
          <p:cNvSpPr/>
          <p:nvPr/>
        </p:nvSpPr>
        <p:spPr>
          <a:xfrm>
            <a:off x="6949440" y="1234440"/>
            <a:ext cx="1051560" cy="502920"/>
          </a:xfrm>
          <a:prstGeom prst="roundRect">
            <a:avLst/>
          </a:prstGeom>
          <a:solidFill>
            <a:srgbClr val="182D4E"/>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FFFFFF"/>
                </a:solidFill>
              </a:rPr>
              <a:t>Confidence</a:t>
            </a:r>
          </a:p>
          <a:p>
            <a:r>
              <a:rPr sz="900">
                <a:solidFill>
                  <a:srgbClr val="2D323A"/>
                </a:solidFill>
              </a:rPr>
              <a:t/>
            </a:r>
          </a:p>
        </p:txBody>
      </p:sp>
      <p:sp>
        <p:nvSpPr>
          <p:cNvPr id="9" name="Rounded Rectangle 8"/>
          <p:cNvSpPr/>
          <p:nvPr/>
        </p:nvSpPr>
        <p:spPr>
          <a:xfrm>
            <a:off x="8001000" y="1234440"/>
            <a:ext cx="2651760" cy="502920"/>
          </a:xfrm>
          <a:prstGeom prst="roundRect">
            <a:avLst/>
          </a:prstGeom>
          <a:solidFill>
            <a:srgbClr val="182D4E"/>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FFFFFF"/>
                </a:solidFill>
              </a:rPr>
              <a:t>Validation</a:t>
            </a:r>
          </a:p>
          <a:p>
            <a:r>
              <a:rPr sz="900">
                <a:solidFill>
                  <a:srgbClr val="2D323A"/>
                </a:solidFill>
              </a:rPr>
              <a:t/>
            </a:r>
          </a:p>
        </p:txBody>
      </p:sp>
      <p:sp>
        <p:nvSpPr>
          <p:cNvPr id="10" name="Rounded Rectangle 9"/>
          <p:cNvSpPr/>
          <p:nvPr/>
        </p:nvSpPr>
        <p:spPr>
          <a:xfrm>
            <a:off x="4572000" y="1801368"/>
            <a:ext cx="132588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Problem</a:t>
            </a:r>
          </a:p>
          <a:p>
            <a:r>
              <a:rPr sz="850">
                <a:solidFill>
                  <a:srgbClr val="2D323A"/>
                </a:solidFill>
              </a:rPr>
              <a:t/>
            </a:r>
          </a:p>
        </p:txBody>
      </p:sp>
      <p:sp>
        <p:nvSpPr>
          <p:cNvPr id="11" name="Rounded Rectangle 10"/>
          <p:cNvSpPr/>
          <p:nvPr/>
        </p:nvSpPr>
        <p:spPr>
          <a:xfrm>
            <a:off x="5897880" y="1801368"/>
            <a:ext cx="10515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High</a:t>
            </a:r>
          </a:p>
          <a:p>
            <a:r>
              <a:rPr sz="850">
                <a:solidFill>
                  <a:srgbClr val="2D323A"/>
                </a:solidFill>
              </a:rPr>
              <a:t/>
            </a:r>
          </a:p>
        </p:txBody>
      </p:sp>
      <p:sp>
        <p:nvSpPr>
          <p:cNvPr id="12" name="Rounded Rectangle 11"/>
          <p:cNvSpPr/>
          <p:nvPr/>
        </p:nvSpPr>
        <p:spPr>
          <a:xfrm>
            <a:off x="6949440" y="1801368"/>
            <a:ext cx="10515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Low</a:t>
            </a:r>
          </a:p>
          <a:p>
            <a:r>
              <a:rPr sz="850">
                <a:solidFill>
                  <a:srgbClr val="2D323A"/>
                </a:solidFill>
              </a:rPr>
              <a:t/>
            </a:r>
          </a:p>
        </p:txBody>
      </p:sp>
      <p:sp>
        <p:nvSpPr>
          <p:cNvPr id="13" name="Rounded Rectangle 12"/>
          <p:cNvSpPr/>
          <p:nvPr/>
        </p:nvSpPr>
        <p:spPr>
          <a:xfrm>
            <a:off x="8001000" y="1801368"/>
            <a:ext cx="26517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Student interviews / surveys</a:t>
            </a:r>
          </a:p>
          <a:p>
            <a:r>
              <a:rPr sz="850">
                <a:solidFill>
                  <a:srgbClr val="2D323A"/>
                </a:solidFill>
              </a:rPr>
              <a:t/>
            </a:r>
          </a:p>
        </p:txBody>
      </p:sp>
      <p:sp>
        <p:nvSpPr>
          <p:cNvPr id="14" name="Rounded Rectangle 13"/>
          <p:cNvSpPr/>
          <p:nvPr/>
        </p:nvSpPr>
        <p:spPr>
          <a:xfrm>
            <a:off x="4572000" y="2368296"/>
            <a:ext cx="132588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Customer</a:t>
            </a:r>
          </a:p>
          <a:p>
            <a:r>
              <a:rPr sz="850">
                <a:solidFill>
                  <a:srgbClr val="2D323A"/>
                </a:solidFill>
              </a:rPr>
              <a:t/>
            </a:r>
          </a:p>
        </p:txBody>
      </p:sp>
      <p:sp>
        <p:nvSpPr>
          <p:cNvPr id="15" name="Rounded Rectangle 14"/>
          <p:cNvSpPr/>
          <p:nvPr/>
        </p:nvSpPr>
        <p:spPr>
          <a:xfrm>
            <a:off x="5897880" y="2368296"/>
            <a:ext cx="10515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High</a:t>
            </a:r>
          </a:p>
          <a:p>
            <a:r>
              <a:rPr sz="850">
                <a:solidFill>
                  <a:srgbClr val="2D323A"/>
                </a:solidFill>
              </a:rPr>
              <a:t/>
            </a:r>
          </a:p>
        </p:txBody>
      </p:sp>
      <p:sp>
        <p:nvSpPr>
          <p:cNvPr id="16" name="Rounded Rectangle 15"/>
          <p:cNvSpPr/>
          <p:nvPr/>
        </p:nvSpPr>
        <p:spPr>
          <a:xfrm>
            <a:off x="6949440" y="2368296"/>
            <a:ext cx="10515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Low</a:t>
            </a:r>
          </a:p>
          <a:p>
            <a:r>
              <a:rPr sz="850">
                <a:solidFill>
                  <a:srgbClr val="2D323A"/>
                </a:solidFill>
              </a:rPr>
              <a:t/>
            </a:r>
          </a:p>
        </p:txBody>
      </p:sp>
      <p:sp>
        <p:nvSpPr>
          <p:cNvPr id="17" name="Rounded Rectangle 16"/>
          <p:cNvSpPr/>
          <p:nvPr/>
        </p:nvSpPr>
        <p:spPr>
          <a:xfrm>
            <a:off x="8001000" y="2368296"/>
            <a:ext cx="26517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Segment interviews / pilot</a:t>
            </a:r>
          </a:p>
          <a:p>
            <a:r>
              <a:rPr sz="850">
                <a:solidFill>
                  <a:srgbClr val="2D323A"/>
                </a:solidFill>
              </a:rPr>
              <a:t/>
            </a:r>
          </a:p>
        </p:txBody>
      </p:sp>
      <p:sp>
        <p:nvSpPr>
          <p:cNvPr id="18" name="Rounded Rectangle 17"/>
          <p:cNvSpPr/>
          <p:nvPr/>
        </p:nvSpPr>
        <p:spPr>
          <a:xfrm>
            <a:off x="4572000" y="2935224"/>
            <a:ext cx="132588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Pricing</a:t>
            </a:r>
          </a:p>
          <a:p>
            <a:r>
              <a:rPr sz="850">
                <a:solidFill>
                  <a:srgbClr val="2D323A"/>
                </a:solidFill>
              </a:rPr>
              <a:t/>
            </a:r>
          </a:p>
        </p:txBody>
      </p:sp>
      <p:sp>
        <p:nvSpPr>
          <p:cNvPr id="19" name="Rounded Rectangle 18"/>
          <p:cNvSpPr/>
          <p:nvPr/>
        </p:nvSpPr>
        <p:spPr>
          <a:xfrm>
            <a:off x="5897880" y="2935224"/>
            <a:ext cx="10515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High</a:t>
            </a:r>
          </a:p>
          <a:p>
            <a:r>
              <a:rPr sz="850">
                <a:solidFill>
                  <a:srgbClr val="2D323A"/>
                </a:solidFill>
              </a:rPr>
              <a:t/>
            </a:r>
          </a:p>
        </p:txBody>
      </p:sp>
      <p:sp>
        <p:nvSpPr>
          <p:cNvPr id="20" name="Rounded Rectangle 19"/>
          <p:cNvSpPr/>
          <p:nvPr/>
        </p:nvSpPr>
        <p:spPr>
          <a:xfrm>
            <a:off x="6949440" y="2935224"/>
            <a:ext cx="10515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Low</a:t>
            </a:r>
          </a:p>
          <a:p>
            <a:r>
              <a:rPr sz="850">
                <a:solidFill>
                  <a:srgbClr val="2D323A"/>
                </a:solidFill>
              </a:rPr>
              <a:t/>
            </a:r>
          </a:p>
        </p:txBody>
      </p:sp>
      <p:sp>
        <p:nvSpPr>
          <p:cNvPr id="21" name="Rounded Rectangle 20"/>
          <p:cNvSpPr/>
          <p:nvPr/>
        </p:nvSpPr>
        <p:spPr>
          <a:xfrm>
            <a:off x="8001000" y="2935224"/>
            <a:ext cx="26517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Willingness-to-pay test</a:t>
            </a:r>
          </a:p>
          <a:p>
            <a:r>
              <a:rPr sz="850">
                <a:solidFill>
                  <a:srgbClr val="2D323A"/>
                </a:solidFill>
              </a:rPr>
              <a:t/>
            </a:r>
          </a:p>
        </p:txBody>
      </p:sp>
      <p:sp>
        <p:nvSpPr>
          <p:cNvPr id="22" name="Rounded Rectangle 21"/>
          <p:cNvSpPr/>
          <p:nvPr/>
        </p:nvSpPr>
        <p:spPr>
          <a:xfrm>
            <a:off x="4572000" y="3502152"/>
            <a:ext cx="132588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Revenue</a:t>
            </a:r>
          </a:p>
          <a:p>
            <a:r>
              <a:rPr sz="850">
                <a:solidFill>
                  <a:srgbClr val="2D323A"/>
                </a:solidFill>
              </a:rPr>
              <a:t/>
            </a:r>
          </a:p>
        </p:txBody>
      </p:sp>
      <p:sp>
        <p:nvSpPr>
          <p:cNvPr id="23" name="Rounded Rectangle 22"/>
          <p:cNvSpPr/>
          <p:nvPr/>
        </p:nvSpPr>
        <p:spPr>
          <a:xfrm>
            <a:off x="5897880" y="3502152"/>
            <a:ext cx="10515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High</a:t>
            </a:r>
          </a:p>
          <a:p>
            <a:r>
              <a:rPr sz="850">
                <a:solidFill>
                  <a:srgbClr val="2D323A"/>
                </a:solidFill>
              </a:rPr>
              <a:t/>
            </a:r>
          </a:p>
        </p:txBody>
      </p:sp>
      <p:sp>
        <p:nvSpPr>
          <p:cNvPr id="24" name="Rounded Rectangle 23"/>
          <p:cNvSpPr/>
          <p:nvPr/>
        </p:nvSpPr>
        <p:spPr>
          <a:xfrm>
            <a:off x="6949440" y="3502152"/>
            <a:ext cx="10515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Low</a:t>
            </a:r>
          </a:p>
          <a:p>
            <a:r>
              <a:rPr sz="850">
                <a:solidFill>
                  <a:srgbClr val="2D323A"/>
                </a:solidFill>
              </a:rPr>
              <a:t/>
            </a:r>
          </a:p>
        </p:txBody>
      </p:sp>
      <p:sp>
        <p:nvSpPr>
          <p:cNvPr id="25" name="Rounded Rectangle 24"/>
          <p:cNvSpPr/>
          <p:nvPr/>
        </p:nvSpPr>
        <p:spPr>
          <a:xfrm>
            <a:off x="8001000" y="3502152"/>
            <a:ext cx="26517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Provider interviews / pilot</a:t>
            </a:r>
          </a:p>
          <a:p>
            <a:r>
              <a:rPr sz="850">
                <a:solidFill>
                  <a:srgbClr val="2D323A"/>
                </a:solidFill>
              </a:rPr>
              <a:t/>
            </a:r>
          </a:p>
        </p:txBody>
      </p:sp>
      <p:sp>
        <p:nvSpPr>
          <p:cNvPr id="26" name="Rounded Rectangle 25"/>
          <p:cNvSpPr/>
          <p:nvPr/>
        </p:nvSpPr>
        <p:spPr>
          <a:xfrm>
            <a:off x="4572000" y="4069080"/>
            <a:ext cx="132588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Channel</a:t>
            </a:r>
          </a:p>
          <a:p>
            <a:r>
              <a:rPr sz="850">
                <a:solidFill>
                  <a:srgbClr val="2D323A"/>
                </a:solidFill>
              </a:rPr>
              <a:t/>
            </a:r>
          </a:p>
        </p:txBody>
      </p:sp>
      <p:sp>
        <p:nvSpPr>
          <p:cNvPr id="27" name="Rounded Rectangle 26"/>
          <p:cNvSpPr/>
          <p:nvPr/>
        </p:nvSpPr>
        <p:spPr>
          <a:xfrm>
            <a:off x="5897880" y="4069080"/>
            <a:ext cx="10515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Medium</a:t>
            </a:r>
          </a:p>
          <a:p>
            <a:r>
              <a:rPr sz="850">
                <a:solidFill>
                  <a:srgbClr val="2D323A"/>
                </a:solidFill>
              </a:rPr>
              <a:t/>
            </a:r>
          </a:p>
        </p:txBody>
      </p:sp>
      <p:sp>
        <p:nvSpPr>
          <p:cNvPr id="28" name="Rounded Rectangle 27"/>
          <p:cNvSpPr/>
          <p:nvPr/>
        </p:nvSpPr>
        <p:spPr>
          <a:xfrm>
            <a:off x="6949440" y="4069080"/>
            <a:ext cx="10515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Low</a:t>
            </a:r>
          </a:p>
          <a:p>
            <a:r>
              <a:rPr sz="850">
                <a:solidFill>
                  <a:srgbClr val="2D323A"/>
                </a:solidFill>
              </a:rPr>
              <a:t/>
            </a:r>
          </a:p>
        </p:txBody>
      </p:sp>
      <p:sp>
        <p:nvSpPr>
          <p:cNvPr id="29" name="Rounded Rectangle 28"/>
          <p:cNvSpPr/>
          <p:nvPr/>
        </p:nvSpPr>
        <p:spPr>
          <a:xfrm>
            <a:off x="8001000" y="4069080"/>
            <a:ext cx="26517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Acquisition experiments</a:t>
            </a:r>
          </a:p>
          <a:p>
            <a:r>
              <a:rPr sz="850">
                <a:solidFill>
                  <a:srgbClr val="2D323A"/>
                </a:solidFill>
              </a:rPr>
              <a:t/>
            </a:r>
          </a:p>
        </p:txBody>
      </p:sp>
      <p:sp>
        <p:nvSpPr>
          <p:cNvPr id="30" name="Rounded Rectangle 29"/>
          <p:cNvSpPr/>
          <p:nvPr/>
        </p:nvSpPr>
        <p:spPr>
          <a:xfrm>
            <a:off x="4572000" y="4636008"/>
            <a:ext cx="132588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Cost</a:t>
            </a:r>
          </a:p>
          <a:p>
            <a:r>
              <a:rPr sz="850">
                <a:solidFill>
                  <a:srgbClr val="2D323A"/>
                </a:solidFill>
              </a:rPr>
              <a:t/>
            </a:r>
          </a:p>
        </p:txBody>
      </p:sp>
      <p:sp>
        <p:nvSpPr>
          <p:cNvPr id="31" name="Rounded Rectangle 30"/>
          <p:cNvSpPr/>
          <p:nvPr/>
        </p:nvSpPr>
        <p:spPr>
          <a:xfrm>
            <a:off x="5897880" y="4636008"/>
            <a:ext cx="10515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High</a:t>
            </a:r>
          </a:p>
          <a:p>
            <a:r>
              <a:rPr sz="850">
                <a:solidFill>
                  <a:srgbClr val="2D323A"/>
                </a:solidFill>
              </a:rPr>
              <a:t/>
            </a:r>
          </a:p>
        </p:txBody>
      </p:sp>
      <p:sp>
        <p:nvSpPr>
          <p:cNvPr id="32" name="Rounded Rectangle 31"/>
          <p:cNvSpPr/>
          <p:nvPr/>
        </p:nvSpPr>
        <p:spPr>
          <a:xfrm>
            <a:off x="6949440" y="4636008"/>
            <a:ext cx="10515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Low</a:t>
            </a:r>
          </a:p>
          <a:p>
            <a:r>
              <a:rPr sz="850">
                <a:solidFill>
                  <a:srgbClr val="2D323A"/>
                </a:solidFill>
              </a:rPr>
              <a:t/>
            </a:r>
          </a:p>
        </p:txBody>
      </p:sp>
      <p:sp>
        <p:nvSpPr>
          <p:cNvPr id="33" name="Rounded Rectangle 32"/>
          <p:cNvSpPr/>
          <p:nvPr/>
        </p:nvSpPr>
        <p:spPr>
          <a:xfrm>
            <a:off x="8001000" y="4636008"/>
            <a:ext cx="2651760" cy="475488"/>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Cost pilot / unit economics</a:t>
            </a:r>
          </a:p>
          <a:p>
            <a:r>
              <a:rPr sz="850">
                <a:solidFill>
                  <a:srgbClr val="2D323A"/>
                </a:solidFill>
              </a:rPr>
              <a:t/>
            </a:r>
          </a:p>
        </p:txBody>
      </p:sp>
      <p:sp>
        <p:nvSpPr>
          <p:cNvPr id="34" name="Rounded Rectangle 33"/>
          <p:cNvSpPr/>
          <p:nvPr/>
        </p:nvSpPr>
        <p:spPr>
          <a:xfrm>
            <a:off x="4572000" y="5202936"/>
            <a:ext cx="132588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Competition</a:t>
            </a:r>
          </a:p>
          <a:p>
            <a:r>
              <a:rPr sz="850">
                <a:solidFill>
                  <a:srgbClr val="2D323A"/>
                </a:solidFill>
              </a:rPr>
              <a:t/>
            </a:r>
          </a:p>
        </p:txBody>
      </p:sp>
      <p:sp>
        <p:nvSpPr>
          <p:cNvPr id="35" name="Rounded Rectangle 34"/>
          <p:cNvSpPr/>
          <p:nvPr/>
        </p:nvSpPr>
        <p:spPr>
          <a:xfrm>
            <a:off x="5897880" y="5202936"/>
            <a:ext cx="10515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High</a:t>
            </a:r>
          </a:p>
          <a:p>
            <a:r>
              <a:rPr sz="850">
                <a:solidFill>
                  <a:srgbClr val="2D323A"/>
                </a:solidFill>
              </a:rPr>
              <a:t/>
            </a:r>
          </a:p>
        </p:txBody>
      </p:sp>
      <p:sp>
        <p:nvSpPr>
          <p:cNvPr id="36" name="Rounded Rectangle 35"/>
          <p:cNvSpPr/>
          <p:nvPr/>
        </p:nvSpPr>
        <p:spPr>
          <a:xfrm>
            <a:off x="6949440" y="5202936"/>
            <a:ext cx="10515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Low</a:t>
            </a:r>
          </a:p>
          <a:p>
            <a:r>
              <a:rPr sz="850">
                <a:solidFill>
                  <a:srgbClr val="2D323A"/>
                </a:solidFill>
              </a:rPr>
              <a:t/>
            </a:r>
          </a:p>
        </p:txBody>
      </p:sp>
      <p:sp>
        <p:nvSpPr>
          <p:cNvPr id="37" name="Rounded Rectangle 36"/>
          <p:cNvSpPr/>
          <p:nvPr/>
        </p:nvSpPr>
        <p:spPr>
          <a:xfrm>
            <a:off x="8001000" y="5202936"/>
            <a:ext cx="2651760" cy="475488"/>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Competitor + customer testing</a:t>
            </a:r>
          </a:p>
          <a:p>
            <a:r>
              <a:rPr sz="850">
                <a:solidFill>
                  <a:srgbClr val="2D323A"/>
                </a:solidFill>
              </a:rPr>
              <a:t/>
            </a:r>
          </a:p>
        </p:txBody>
      </p:sp>
      <p:sp>
        <p:nvSpPr>
          <p:cNvPr id="38" name="Rectangle 37"/>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6510528"/>
            <a:ext cx="10698480" cy="228600"/>
          </a:xfrm>
          <a:prstGeom prst="rect">
            <a:avLst/>
          </a:prstGeom>
          <a:noFill/>
        </p:spPr>
        <p:txBody>
          <a:bodyPr wrap="none">
            <a:spAutoFit/>
          </a:bodyPr>
          <a:lstStyle/>
          <a:p>
            <a:pPr algn="r"/>
            <a:r>
              <a:rPr sz="800">
                <a:solidFill>
                  <a:srgbClr val="69707A"/>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6. Risk Analysis &amp; Validation Experiments</a:t>
            </a:r>
          </a:p>
        </p:txBody>
      </p:sp>
      <p:sp>
        <p:nvSpPr>
          <p:cNvPr id="4" name="Rounded Rectangle 3"/>
          <p:cNvSpPr/>
          <p:nvPr/>
        </p:nvSpPr>
        <p:spPr>
          <a:xfrm>
            <a:off x="640080" y="1234440"/>
            <a:ext cx="3474720" cy="123444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Problem Risk</a:t>
            </a:r>
          </a:p>
          <a:p>
            <a:r>
              <a:rPr sz="1300">
                <a:solidFill>
                  <a:srgbClr val="2D323A"/>
                </a:solidFill>
              </a:rPr>
              <a:t>Validate severity, frequency and current alternatives through student research.</a:t>
            </a:r>
          </a:p>
        </p:txBody>
      </p:sp>
      <p:sp>
        <p:nvSpPr>
          <p:cNvPr id="5" name="Rounded Rectangle 4"/>
          <p:cNvSpPr/>
          <p:nvPr/>
        </p:nvSpPr>
        <p:spPr>
          <a:xfrm>
            <a:off x="4343400" y="1234440"/>
            <a:ext cx="3474720" cy="123444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Pricing Risk</a:t>
            </a:r>
          </a:p>
          <a:p>
            <a:r>
              <a:rPr sz="1300">
                <a:solidFill>
                  <a:srgbClr val="2D323A"/>
                </a:solidFill>
              </a:rPr>
              <a:t>Test willingness to pay through pricing experiments, landing pages or pre-orders.</a:t>
            </a:r>
          </a:p>
        </p:txBody>
      </p:sp>
      <p:sp>
        <p:nvSpPr>
          <p:cNvPr id="6" name="Rounded Rectangle 5"/>
          <p:cNvSpPr/>
          <p:nvPr/>
        </p:nvSpPr>
        <p:spPr>
          <a:xfrm>
            <a:off x="8046720" y="1234440"/>
            <a:ext cx="3474720" cy="123444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Provider Risk</a:t>
            </a:r>
          </a:p>
          <a:p>
            <a:r>
              <a:rPr sz="1300">
                <a:solidFill>
                  <a:srgbClr val="2D323A"/>
                </a:solidFill>
              </a:rPr>
              <a:t>Interview food providers and test commission/operational acceptance.</a:t>
            </a:r>
          </a:p>
        </p:txBody>
      </p:sp>
      <p:sp>
        <p:nvSpPr>
          <p:cNvPr id="7" name="Rounded Rectangle 6"/>
          <p:cNvSpPr/>
          <p:nvPr/>
        </p:nvSpPr>
        <p:spPr>
          <a:xfrm>
            <a:off x="640080" y="2834640"/>
            <a:ext cx="3474720" cy="123444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Channel Risk</a:t>
            </a:r>
          </a:p>
          <a:p>
            <a:r>
              <a:rPr sz="1300">
                <a:solidFill>
                  <a:srgbClr val="2D323A"/>
                </a:solidFill>
              </a:rPr>
              <a:t>Run small acquisition experiments and measure leads, conversion and CAC.</a:t>
            </a:r>
          </a:p>
        </p:txBody>
      </p:sp>
      <p:sp>
        <p:nvSpPr>
          <p:cNvPr id="8" name="Rounded Rectangle 7"/>
          <p:cNvSpPr/>
          <p:nvPr/>
        </p:nvSpPr>
        <p:spPr>
          <a:xfrm>
            <a:off x="4343400" y="2834640"/>
            <a:ext cx="3474720" cy="123444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Cost Risk</a:t>
            </a:r>
          </a:p>
          <a:p>
            <a:r>
              <a:rPr sz="1300">
                <a:solidFill>
                  <a:srgbClr val="2D323A"/>
                </a:solidFill>
              </a:rPr>
              <a:t>Measure real delivery and operating costs in a small pilot.</a:t>
            </a:r>
          </a:p>
        </p:txBody>
      </p:sp>
      <p:sp>
        <p:nvSpPr>
          <p:cNvPr id="9" name="Rounded Rectangle 8"/>
          <p:cNvSpPr/>
          <p:nvPr/>
        </p:nvSpPr>
        <p:spPr>
          <a:xfrm>
            <a:off x="8046720" y="2834640"/>
            <a:ext cx="3474720" cy="123444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Retention Risk</a:t>
            </a:r>
          </a:p>
          <a:p>
            <a:r>
              <a:rPr sz="1300">
                <a:solidFill>
                  <a:srgbClr val="2D323A"/>
                </a:solidFill>
              </a:rPr>
              <a:t>Measure repeat use, complaints and retention during a pilot.</a:t>
            </a:r>
          </a:p>
        </p:txBody>
      </p:sp>
      <p:sp>
        <p:nvSpPr>
          <p:cNvPr id="10" name="Rounded Rectangle 9"/>
          <p:cNvSpPr/>
          <p:nvPr/>
        </p:nvSpPr>
        <p:spPr>
          <a:xfrm>
            <a:off x="2057400" y="4709160"/>
            <a:ext cx="8092440" cy="100584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Decision Logic</a:t>
            </a:r>
          </a:p>
          <a:p>
            <a:r>
              <a:rPr sz="1400">
                <a:solidFill>
                  <a:srgbClr val="2D323A"/>
                </a:solidFill>
              </a:rPr>
              <a:t>Low evidence → validate. Multiple core assumptions failing → modify or pivot. The tool does not force a positive recommendation.</a:t>
            </a:r>
          </a:p>
        </p:txBody>
      </p:sp>
      <p:sp>
        <p:nvSpPr>
          <p:cNvPr id="11" name="Rectangle 10"/>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510528"/>
            <a:ext cx="10698480" cy="228600"/>
          </a:xfrm>
          <a:prstGeom prst="rect">
            <a:avLst/>
          </a:prstGeom>
          <a:noFill/>
        </p:spPr>
        <p:txBody>
          <a:bodyPr wrap="none">
            <a:spAutoFit/>
          </a:bodyPr>
          <a:lstStyle/>
          <a:p>
            <a:pPr algn="r"/>
            <a:r>
              <a:rPr sz="800">
                <a:solidFill>
                  <a:srgbClr val="69707A"/>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7. Application Features &amp; Technology</a:t>
            </a:r>
          </a:p>
        </p:txBody>
      </p:sp>
      <p:sp>
        <p:nvSpPr>
          <p:cNvPr id="4" name="Rounded Rectangle 3"/>
          <p:cNvSpPr/>
          <p:nvPr/>
        </p:nvSpPr>
        <p:spPr>
          <a:xfrm>
            <a:off x="640080" y="1325880"/>
            <a:ext cx="3246120" cy="141732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Lean Canvas</a:t>
            </a:r>
          </a:p>
          <a:p>
            <a:r>
              <a:rPr sz="1200">
                <a:solidFill>
                  <a:srgbClr val="2D323A"/>
                </a:solidFill>
              </a:rPr>
              <a:t>Automated nine-block canvas generation</a:t>
            </a:r>
          </a:p>
        </p:txBody>
      </p:sp>
      <p:sp>
        <p:nvSpPr>
          <p:cNvPr id="5" name="Rounded Rectangle 4"/>
          <p:cNvSpPr/>
          <p:nvPr/>
        </p:nvSpPr>
        <p:spPr>
          <a:xfrm>
            <a:off x="4160520" y="1325880"/>
            <a:ext cx="3246120" cy="141732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Evidence &amp; Risk</a:t>
            </a:r>
          </a:p>
          <a:p>
            <a:r>
              <a:rPr sz="1200">
                <a:solidFill>
                  <a:srgbClr val="2D323A"/>
                </a:solidFill>
              </a:rPr>
              <a:t>Confidence analysis and initial risk identification</a:t>
            </a:r>
          </a:p>
        </p:txBody>
      </p:sp>
      <p:sp>
        <p:nvSpPr>
          <p:cNvPr id="6" name="Rounded Rectangle 5"/>
          <p:cNvSpPr/>
          <p:nvPr/>
        </p:nvSpPr>
        <p:spPr>
          <a:xfrm>
            <a:off x="7680960" y="1325880"/>
            <a:ext cx="3246120" cy="141732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AI Assistance</a:t>
            </a:r>
          </a:p>
          <a:p>
            <a:r>
              <a:rPr sz="1200">
                <a:solidFill>
                  <a:srgbClr val="2D323A"/>
                </a:solidFill>
              </a:rPr>
              <a:t>Business-model recommendations and competitor-analysis interface</a:t>
            </a:r>
          </a:p>
        </p:txBody>
      </p:sp>
      <p:sp>
        <p:nvSpPr>
          <p:cNvPr id="7" name="Rounded Rectangle 6"/>
          <p:cNvSpPr/>
          <p:nvPr/>
        </p:nvSpPr>
        <p:spPr>
          <a:xfrm>
            <a:off x="640080" y="3154680"/>
            <a:ext cx="3246120" cy="141732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Templates</a:t>
            </a:r>
          </a:p>
          <a:p>
            <a:r>
              <a:rPr sz="1200">
                <a:solidFill>
                  <a:srgbClr val="2D323A"/>
                </a:solidFill>
              </a:rPr>
              <a:t>General, EdTech, FinTech, Retail, EV and FoodTech</a:t>
            </a:r>
          </a:p>
        </p:txBody>
      </p:sp>
      <p:sp>
        <p:nvSpPr>
          <p:cNvPr id="8" name="Rounded Rectangle 7"/>
          <p:cNvSpPr/>
          <p:nvPr/>
        </p:nvSpPr>
        <p:spPr>
          <a:xfrm>
            <a:off x="4160520" y="3154680"/>
            <a:ext cx="3246120" cy="141732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Collaboration</a:t>
            </a:r>
          </a:p>
          <a:p>
            <a:r>
              <a:rPr sz="1200">
                <a:solidFill>
                  <a:srgbClr val="2D323A"/>
                </a:solidFill>
              </a:rPr>
              <a:t>Lightweight team review log and comments</a:t>
            </a:r>
          </a:p>
        </p:txBody>
      </p:sp>
      <p:sp>
        <p:nvSpPr>
          <p:cNvPr id="9" name="Rounded Rectangle 8"/>
          <p:cNvSpPr/>
          <p:nvPr/>
        </p:nvSpPr>
        <p:spPr>
          <a:xfrm>
            <a:off x="7680960" y="3154680"/>
            <a:ext cx="3246120" cy="141732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Exports</a:t>
            </a:r>
          </a:p>
          <a:p>
            <a:r>
              <a:rPr sz="1200">
                <a:solidFill>
                  <a:srgbClr val="2D323A"/>
                </a:solidFill>
              </a:rPr>
              <a:t>CSV, Excel and PDF</a:t>
            </a:r>
          </a:p>
        </p:txBody>
      </p:sp>
      <p:sp>
        <p:nvSpPr>
          <p:cNvPr id="10" name="Rounded Rectangle 9"/>
          <p:cNvSpPr/>
          <p:nvPr/>
        </p:nvSpPr>
        <p:spPr>
          <a:xfrm>
            <a:off x="1371600" y="5257800"/>
            <a:ext cx="9464040" cy="68580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Technology Stack</a:t>
            </a:r>
          </a:p>
          <a:p>
            <a:r>
              <a:rPr sz="1300">
                <a:solidFill>
                  <a:srgbClr val="2D323A"/>
                </a:solidFill>
              </a:rPr>
              <a:t>Python • Streamlit • Pandas • OpenAI API • OpenPyXL • ReportLab • Git • GitHub • Excel</a:t>
            </a:r>
          </a:p>
        </p:txBody>
      </p:sp>
      <p:sp>
        <p:nvSpPr>
          <p:cNvPr id="11" name="Rectangle 10"/>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510528"/>
            <a:ext cx="10698480" cy="228600"/>
          </a:xfrm>
          <a:prstGeom prst="rect">
            <a:avLst/>
          </a:prstGeom>
          <a:noFill/>
        </p:spPr>
        <p:txBody>
          <a:bodyPr wrap="none">
            <a:spAutoFit/>
          </a:bodyPr>
          <a:lstStyle/>
          <a:p>
            <a:pPr algn="r"/>
            <a:r>
              <a:rPr sz="800">
                <a:solidFill>
                  <a:srgbClr val="69707A"/>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8. Testing, Results &amp; Project Status</a:t>
            </a:r>
          </a:p>
        </p:txBody>
      </p:sp>
      <p:sp>
        <p:nvSpPr>
          <p:cNvPr id="4" name="Rounded Rectangle 3"/>
          <p:cNvSpPr/>
          <p:nvPr/>
        </p:nvSpPr>
        <p:spPr>
          <a:xfrm>
            <a:off x="640080" y="1325880"/>
            <a:ext cx="3383280" cy="196596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Step 6 Testing</a:t>
            </a:r>
          </a:p>
          <a:p>
            <a:r>
              <a:rPr sz="1400">
                <a:solidFill>
                  <a:srgbClr val="2D323A"/>
                </a:solidFill>
              </a:rPr>
              <a:t>10 startup ideas
9 canvas blocks per startup
90 comparison points
10 documented review records</a:t>
            </a:r>
          </a:p>
        </p:txBody>
      </p:sp>
      <p:sp>
        <p:nvSpPr>
          <p:cNvPr id="5" name="Rounded Rectangle 4"/>
          <p:cNvSpPr/>
          <p:nvPr/>
        </p:nvSpPr>
        <p:spPr>
          <a:xfrm>
            <a:off x="4389120" y="1325880"/>
            <a:ext cx="3383280" cy="196596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Common Refinements</a:t>
            </a:r>
          </a:p>
          <a:p>
            <a:r>
              <a:rPr sz="1300">
                <a:solidFill>
                  <a:srgbClr val="2D323A"/>
                </a:solidFill>
              </a:rPr>
              <a:t>Customer specificity
UVP differentiation
Willingness to pay
Acquisition channels
Operating costs
Defensibility</a:t>
            </a:r>
          </a:p>
        </p:txBody>
      </p:sp>
      <p:sp>
        <p:nvSpPr>
          <p:cNvPr id="6" name="Rounded Rectangle 5"/>
          <p:cNvSpPr/>
          <p:nvPr/>
        </p:nvSpPr>
        <p:spPr>
          <a:xfrm>
            <a:off x="8138160" y="1325880"/>
            <a:ext cx="3383280" cy="1965960"/>
          </a:xfrm>
          <a:prstGeom prst="roundRect">
            <a:avLst/>
          </a:prstGeom>
          <a:solidFill>
            <a:srgbClr val="EFF5FB"/>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Project Status</a:t>
            </a:r>
          </a:p>
          <a:p>
            <a:r>
              <a:rPr sz="1200">
                <a:solidFill>
                  <a:srgbClr val="2D323A"/>
                </a:solidFill>
              </a:rPr>
              <a:t>Core canvas workflow: Implemented
Exports: Implemented
Templates: Implemented
AI features: Prototype / API configuration required
Commercial validation: Not completed</a:t>
            </a:r>
          </a:p>
        </p:txBody>
      </p:sp>
      <p:sp>
        <p:nvSpPr>
          <p:cNvPr id="7" name="Rounded Rectangle 6"/>
          <p:cNvSpPr/>
          <p:nvPr/>
        </p:nvSpPr>
        <p:spPr>
          <a:xfrm>
            <a:off x="1234440" y="3886200"/>
            <a:ext cx="9738360" cy="141732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Important Documentation Note</a:t>
            </a:r>
          </a:p>
          <a:p>
            <a:r>
              <a:rPr sz="1300">
                <a:solidFill>
                  <a:srgbClr val="2D323A"/>
                </a:solidFill>
              </a:rPr>
              <a:t>AI suggestions are hypotheses, not evidence. The student implementation does not claim live Crunchbase scraping, real-time collaboration or successful live AI API execution without configuration.</a:t>
            </a:r>
          </a:p>
        </p:txBody>
      </p:sp>
      <p:sp>
        <p:nvSpPr>
          <p:cNvPr id="8" name="Rectangle 7"/>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10528"/>
            <a:ext cx="10698480" cy="228600"/>
          </a:xfrm>
          <a:prstGeom prst="rect">
            <a:avLst/>
          </a:prstGeom>
          <a:noFill/>
        </p:spPr>
        <p:txBody>
          <a:bodyPr wrap="none">
            <a:spAutoFit/>
          </a:bodyPr>
          <a:lstStyle/>
          <a:p>
            <a:pPr algn="r"/>
            <a:r>
              <a:rPr sz="800">
                <a:solidFill>
                  <a:srgbClr val="69707A"/>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600" b="1">
                <a:solidFill>
                  <a:srgbClr val="182D4E"/>
                </a:solidFill>
              </a:rPr>
              <a:t>9. Conclusion, Recommendation &amp; Future Scope</a:t>
            </a:r>
          </a:p>
        </p:txBody>
      </p:sp>
      <p:sp>
        <p:nvSpPr>
          <p:cNvPr id="4" name="Rounded Rectangle 3"/>
          <p:cNvSpPr/>
          <p:nvPr/>
        </p:nvSpPr>
        <p:spPr>
          <a:xfrm>
            <a:off x="685800" y="1325880"/>
            <a:ext cx="3246120" cy="132588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DA8237"/>
                </a:solidFill>
              </a:rPr>
              <a:t>FINAL RECOMMENDATION</a:t>
            </a:r>
          </a:p>
          <a:p>
            <a:r>
              <a:rPr sz="1900">
                <a:solidFill>
                  <a:srgbClr val="2D323A"/>
                </a:solidFill>
              </a:rPr>
              <a:t>TEST FURTHER</a:t>
            </a:r>
          </a:p>
        </p:txBody>
      </p:sp>
      <p:sp>
        <p:nvSpPr>
          <p:cNvPr id="5" name="Rounded Rectangle 4"/>
          <p:cNvSpPr/>
          <p:nvPr/>
        </p:nvSpPr>
        <p:spPr>
          <a:xfrm>
            <a:off x="4251960" y="1325880"/>
            <a:ext cx="3429000" cy="132588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Why?</a:t>
            </a:r>
          </a:p>
          <a:p>
            <a:r>
              <a:rPr sz="1300">
                <a:solidFill>
                  <a:srgbClr val="2D323A"/>
                </a:solidFill>
              </a:rPr>
              <a:t>Customer need, willingness to pay, provider participation, delivery economics, acquisition channels and retention remain unvalidated.</a:t>
            </a:r>
          </a:p>
        </p:txBody>
      </p:sp>
      <p:sp>
        <p:nvSpPr>
          <p:cNvPr id="6" name="Rounded Rectangle 5"/>
          <p:cNvSpPr/>
          <p:nvPr/>
        </p:nvSpPr>
        <p:spPr>
          <a:xfrm>
            <a:off x="8046720" y="1325880"/>
            <a:ext cx="3429000" cy="132588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Immediate Next Steps</a:t>
            </a:r>
          </a:p>
          <a:p>
            <a:r>
              <a:rPr sz="1200">
                <a:solidFill>
                  <a:srgbClr val="2D323A"/>
                </a:solidFill>
              </a:rPr>
              <a:t>Conduct customer interviews
Run pricing/WTP tests
Validate providers
Test acquisition channels
Run a small operating pilot</a:t>
            </a:r>
          </a:p>
        </p:txBody>
      </p:sp>
      <p:sp>
        <p:nvSpPr>
          <p:cNvPr id="7" name="Rounded Rectangle 6"/>
          <p:cNvSpPr/>
          <p:nvPr/>
        </p:nvSpPr>
        <p:spPr>
          <a:xfrm>
            <a:off x="685800" y="3200400"/>
            <a:ext cx="10789920" cy="132588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b="1" sz="1500">
                <a:solidFill>
                  <a:srgbClr val="182D4E"/>
                </a:solidFill>
              </a:rPr>
              <a:t>Future Scope</a:t>
            </a:r>
          </a:p>
          <a:p>
            <a:r>
              <a:rPr sz="1300">
                <a:solidFill>
                  <a:srgbClr val="2D323A"/>
                </a:solidFill>
              </a:rPr>
              <a:t>Live research and survey integration • verified competitor/market data • AI experiment design • canvas version tracking • real unit economics • payment validation • live KPI tracking • no-code SaaS • real-time collaboration</a:t>
            </a:r>
          </a:p>
        </p:txBody>
      </p:sp>
      <p:sp>
        <p:nvSpPr>
          <p:cNvPr id="8" name="TextBox 7"/>
          <p:cNvSpPr txBox="1"/>
          <p:nvPr/>
        </p:nvSpPr>
        <p:spPr>
          <a:xfrm>
            <a:off x="822960" y="5074920"/>
            <a:ext cx="10515600" cy="640080"/>
          </a:xfrm>
          <a:prstGeom prst="rect">
            <a:avLst/>
          </a:prstGeom>
          <a:noFill/>
        </p:spPr>
        <p:txBody>
          <a:bodyPr wrap="none">
            <a:spAutoFit/>
          </a:bodyPr>
          <a:lstStyle/>
          <a:p>
            <a:pPr algn="ctr"/>
            <a:r>
              <a:rPr sz="1900" b="1">
                <a:solidFill>
                  <a:srgbClr val="182D4E"/>
                </a:solidFill>
              </a:rPr>
              <a:t>“A business model is a set of hypotheses until supported by evidence.”</a:t>
            </a:r>
          </a:p>
        </p:txBody>
      </p:sp>
      <p:sp>
        <p:nvSpPr>
          <p:cNvPr id="9" name="TextBox 8"/>
          <p:cNvSpPr txBox="1"/>
          <p:nvPr/>
        </p:nvSpPr>
        <p:spPr>
          <a:xfrm>
            <a:off x="822960" y="5806440"/>
            <a:ext cx="10515600" cy="320040"/>
          </a:xfrm>
          <a:prstGeom prst="rect">
            <a:avLst/>
          </a:prstGeom>
          <a:noFill/>
        </p:spPr>
        <p:txBody>
          <a:bodyPr wrap="none">
            <a:spAutoFit/>
          </a:bodyPr>
          <a:lstStyle/>
          <a:p>
            <a:pPr algn="ctr"/>
            <a:r>
              <a:rPr sz="1100">
                <a:solidFill>
                  <a:srgbClr val="69707A"/>
                </a:solidFill>
              </a:rPr>
              <a:t>Lean Business Model Canvas Automation Tool • CampusBite Case Study</a:t>
            </a:r>
          </a:p>
        </p:txBody>
      </p:sp>
      <p:sp>
        <p:nvSpPr>
          <p:cNvPr id="10" name="Rectangle 9"/>
          <p:cNvSpPr/>
          <p:nvPr/>
        </p:nvSpPr>
        <p:spPr>
          <a:xfrm>
            <a:off x="594360" y="6473952"/>
            <a:ext cx="10972800" cy="18288"/>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10528"/>
            <a:ext cx="10698480" cy="228600"/>
          </a:xfrm>
          <a:prstGeom prst="rect">
            <a:avLst/>
          </a:prstGeom>
          <a:noFill/>
        </p:spPr>
        <p:txBody>
          <a:bodyPr wrap="none">
            <a:spAutoFit/>
          </a:bodyPr>
          <a:lstStyle/>
          <a:p>
            <a:pPr algn="r"/>
            <a:r>
              <a:rPr sz="800">
                <a:solidFill>
                  <a:srgbClr val="69707A"/>
                </a:solidFil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